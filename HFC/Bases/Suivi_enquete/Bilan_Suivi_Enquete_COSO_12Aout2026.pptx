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Interviews reçues</c:v>
                </c:pt>
              </c:strCache>
            </c:strRef>
          </c:tx>
          <c:spPr>
            <a:solidFill>
              <a:srgbClr val="1D3B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A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28 juil. 2026</c:v>
                  </c:pt>
                  <c:pt idx="1">
                    <c:v>11 août 2026</c:v>
                  </c:pt>
                  <c:pt idx="2">
                    <c:v>12 août 2026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144</c:v>
                </c:pt>
                <c:pt idx="1">
                  <c:v>301</c:v>
                </c:pt>
                <c:pt idx="2">
                  <c:v>567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Interviews achevées</c:v>
                </c:pt>
              </c:strCache>
            </c:strRef>
          </c:tx>
          <c:spPr>
            <a:solidFill>
              <a:srgbClr val="E872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A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28 juil. 2026</c:v>
                  </c:pt>
                  <c:pt idx="1">
                    <c:v>11 août 2026</c:v>
                  </c:pt>
                  <c:pt idx="2">
                    <c:v>12 août 2026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66</c:v>
                </c:pt>
                <c:pt idx="1">
                  <c:v>133</c:v>
                </c:pt>
                <c:pt idx="2">
                  <c:v>239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A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A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Taux de complétion (%)</c:v>
                </c:pt>
              </c:strCache>
            </c:strRef>
          </c:tx>
          <c:spPr>
            <a:solidFill>
              <a:srgbClr val="1D3B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A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3B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D3B2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D3B2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3B2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D3B2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D3B2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8720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8720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8720C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8720C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BERE</c:v>
                  </c:pt>
                  <c:pt idx="1">
                    <c:v>PORO</c:v>
                  </c:pt>
                  <c:pt idx="2">
                    <c:v>TCHOLOGO</c:v>
                  </c:pt>
                  <c:pt idx="3">
                    <c:v>BAFING</c:v>
                  </c:pt>
                  <c:pt idx="4">
                    <c:v>GONTOUGO</c:v>
                  </c:pt>
                  <c:pt idx="5">
                    <c:v>KABADOUGOU</c:v>
                  </c:pt>
                  <c:pt idx="6">
                    <c:v>WORODOUGOU</c:v>
                  </c:pt>
                  <c:pt idx="7">
                    <c:v>BOUNKANI</c:v>
                  </c:pt>
                  <c:pt idx="8">
                    <c:v>BAGOUE</c:v>
                  </c:pt>
                  <c:pt idx="9">
                    <c:v>FOLON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61.1</c:v>
                </c:pt>
                <c:pt idx="1">
                  <c:v>53.6</c:v>
                </c:pt>
                <c:pt idx="2">
                  <c:v>45.8</c:v>
                </c:pt>
                <c:pt idx="3">
                  <c:v>47.4</c:v>
                </c:pt>
                <c:pt idx="4">
                  <c:v>40.7</c:v>
                </c:pt>
                <c:pt idx="5">
                  <c:v>40</c:v>
                </c:pt>
                <c:pt idx="6">
                  <c:v>32.1</c:v>
                </c:pt>
                <c:pt idx="7">
                  <c:v>33.3</c:v>
                </c:pt>
                <c:pt idx="8">
                  <c:v>16.7</c:v>
                </c:pt>
                <c:pt idx="9">
                  <c:v>10.4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A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A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37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010144" y="128016"/>
            <a:ext cx="36576" cy="320040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CELLULE D'ANALYSES ÉCONOMIQUES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du suivi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l'enquête COSO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août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situation — Réunion COSO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48874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 · Cellule d'Analyses Économiques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37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D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010144" y="128016"/>
            <a:ext cx="36576" cy="320040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présentation couvre trois volets : l'état des lieux de la collecte, ce qui a été accompli, puis les principales difficultés rencontrées.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651760" cy="3200400"/>
          </a:xfrm>
          <a:prstGeom prst="rect">
            <a:avLst/>
          </a:prstGeom>
          <a:solidFill>
            <a:srgbClr val="1D3B2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002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des lieux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Tableau de bord global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Progression de la collecte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Suivi par région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2651760" cy="320040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6002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33756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est fait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83280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Dispositif mobilisé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83280" y="3429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Avancement par agent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83280" y="3931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Points accomplis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1417320"/>
            <a:ext cx="2651760" cy="320040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6002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26364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Qualité des données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09360" y="3429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Erreurs par section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09360" y="3931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Régions en retard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D3B2A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48874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COSO · Bilan du suivi de l'enquête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0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 · Cellule d'Analyses Économiques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3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37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010144" y="128016"/>
            <a:ext cx="36576" cy="320040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E8720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" cy="1463040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des lieux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de la collecte au 12 août 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48874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 · Cellule d'Analyses Économiques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37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D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010144" y="128016"/>
            <a:ext cx="36576" cy="320040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— 12 août 2026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 : 32 agents enquêteurs · 2 superviseurs · 10 régions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1572768" cy="169164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52144"/>
            <a:ext cx="1572768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567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060143"/>
            <a:ext cx="1389888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 reçues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serveur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38528" y="1078992"/>
            <a:ext cx="1572768" cy="169164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38528" y="1152144"/>
            <a:ext cx="1572768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239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029968" y="2060143"/>
            <a:ext cx="1389888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 achevées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(Completed)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02736" y="1078992"/>
            <a:ext cx="1572768" cy="169164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02736" y="1152144"/>
            <a:ext cx="1572768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42,2 %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694176" y="2060143"/>
            <a:ext cx="1389888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complétion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66944" y="1078992"/>
            <a:ext cx="1572768" cy="169164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66944" y="1152144"/>
            <a:ext cx="1572768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358384" y="2060143"/>
            <a:ext cx="1389888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 en cours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chez l'agent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31152" y="1078992"/>
            <a:ext cx="1572768" cy="169164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31152" y="1152144"/>
            <a:ext cx="1572768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022592" y="2060143"/>
            <a:ext cx="1389888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actifs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déployés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944368"/>
            <a:ext cx="8595360" cy="713232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9923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Qualité des données : 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2999232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2 227 erreurs détectées · 442 interviews affectées · 78 % des interviews comportent au moins une erreur à corriger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D3B2A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48874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: État des lieux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0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 · Cellule d'Analyses Économiques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37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D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010144" y="128016"/>
            <a:ext cx="36576" cy="320040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de la collecte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aux trois dates de suivi disponibles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960120"/>
          <a:ext cx="530352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852160" y="1005840"/>
            <a:ext cx="2971800" cy="96012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89320" y="10607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juil. 2026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89320" y="13167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Reçues : 144   Achevées : 66   Taux : 45,8 %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989320" y="1572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: 623   Agents actifs : 19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852160" y="2084832"/>
            <a:ext cx="2971800" cy="96012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21396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août 2026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89320" y="23957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Reçues : 301   Achevées : 133   Taux : 44,2 %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989320" y="2651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: 1119   Agents actifs : 30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3163824"/>
            <a:ext cx="2971800" cy="960120"/>
          </a:xfrm>
          <a:prstGeom prst="rect">
            <a:avLst/>
          </a:prstGeom>
          <a:solidFill>
            <a:srgbClr val="1D3B2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89320" y="32186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août 2026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989320" y="3474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Reçues : 567   Achevées : 239   Taux : 42,2 %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989320" y="37307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: 2227   Agents actifs : 32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D3B2A"/>
          </a:solidFill>
          <a:ln/>
        </p:spPr>
      </p:sp>
      <p:sp>
        <p:nvSpPr>
          <p:cNvPr id="20" name="Text 17"/>
          <p:cNvSpPr/>
          <p:nvPr/>
        </p:nvSpPr>
        <p:spPr>
          <a:xfrm>
            <a:off x="320040" y="48874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: État des lieux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0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 · Cellule d'Analyses Économiques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37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D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010144" y="128016"/>
            <a:ext cx="36576" cy="320040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par région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complétion (%) et interviews reçues par région — 12 août 2026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960120"/>
          <a:ext cx="59436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400800" y="960120"/>
            <a:ext cx="2468880" cy="320040"/>
          </a:xfrm>
          <a:prstGeom prst="rect">
            <a:avLst/>
          </a:prstGeom>
          <a:solidFill>
            <a:srgbClr val="1D3B2A"/>
          </a:solidFill>
          <a:ln/>
        </p:spPr>
      </p:sp>
      <p:sp>
        <p:nvSpPr>
          <p:cNvPr id="8" name="Text 5"/>
          <p:cNvSpPr/>
          <p:nvPr/>
        </p:nvSpPr>
        <p:spPr>
          <a:xfrm>
            <a:off x="6446520" y="960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Région          Reçues  Achevées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400800" y="1280160"/>
            <a:ext cx="246888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6446520" y="128016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726680" y="1280160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229600" y="1280160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5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400800" y="1581912"/>
            <a:ext cx="2468880" cy="30175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4" name="Text 11"/>
          <p:cNvSpPr/>
          <p:nvPr/>
        </p:nvSpPr>
        <p:spPr>
          <a:xfrm>
            <a:off x="6446520" y="158191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726680" y="1581912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229600" y="1581912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5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400800" y="1883664"/>
            <a:ext cx="246888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6446520" y="1883664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TCHOLOGO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726680" y="1883664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229600" y="1883664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400800" y="2185416"/>
            <a:ext cx="2468880" cy="30175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2" name="Text 19"/>
          <p:cNvSpPr/>
          <p:nvPr/>
        </p:nvSpPr>
        <p:spPr>
          <a:xfrm>
            <a:off x="6446520" y="2185416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BAFING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726680" y="2185416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229600" y="2185416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400800" y="2487168"/>
            <a:ext cx="246888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3"/>
          <p:cNvSpPr/>
          <p:nvPr/>
        </p:nvSpPr>
        <p:spPr>
          <a:xfrm>
            <a:off x="6446520" y="2487168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GONTOUGO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726680" y="2487168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229600" y="2487168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6400800" y="2788920"/>
            <a:ext cx="2468880" cy="30175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0" name="Text 27"/>
          <p:cNvSpPr/>
          <p:nvPr/>
        </p:nvSpPr>
        <p:spPr>
          <a:xfrm>
            <a:off x="6446520" y="278892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KABADOUGOU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726680" y="2788920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8229600" y="2788920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400800" y="3090672"/>
            <a:ext cx="246888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1"/>
          <p:cNvSpPr/>
          <p:nvPr/>
        </p:nvSpPr>
        <p:spPr>
          <a:xfrm>
            <a:off x="6446520" y="309067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WORODOUGOU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7726680" y="3090672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8229600" y="3090672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6400800" y="3392424"/>
            <a:ext cx="2468880" cy="30175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8" name="Text 35"/>
          <p:cNvSpPr/>
          <p:nvPr/>
        </p:nvSpPr>
        <p:spPr>
          <a:xfrm>
            <a:off x="6446520" y="3392424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BOUNKANI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7726680" y="3392424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8229600" y="3392424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6400800" y="3694176"/>
            <a:ext cx="246888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39"/>
          <p:cNvSpPr/>
          <p:nvPr/>
        </p:nvSpPr>
        <p:spPr>
          <a:xfrm>
            <a:off x="6446520" y="3694176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BAGOUE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726680" y="3694176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8229600" y="3694176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6400800" y="3995928"/>
            <a:ext cx="2468880" cy="30175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6" name="Text 43"/>
          <p:cNvSpPr/>
          <p:nvPr/>
        </p:nvSpPr>
        <p:spPr>
          <a:xfrm>
            <a:off x="6446520" y="3995928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FOLON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7726680" y="3995928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8229600" y="3995928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274320" y="4315968"/>
            <a:ext cx="164592" cy="128016"/>
          </a:xfrm>
          <a:prstGeom prst="rect">
            <a:avLst/>
          </a:prstGeom>
          <a:solidFill>
            <a:srgbClr val="1D3B2A"/>
          </a:solidFill>
          <a:ln/>
        </p:spPr>
      </p:sp>
      <p:sp>
        <p:nvSpPr>
          <p:cNvPr id="50" name="Text 47"/>
          <p:cNvSpPr/>
          <p:nvPr/>
        </p:nvSpPr>
        <p:spPr>
          <a:xfrm>
            <a:off x="475488" y="42976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40 %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1463040" y="4315968"/>
            <a:ext cx="164592" cy="128016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52" name="Text 49"/>
          <p:cNvSpPr/>
          <p:nvPr/>
        </p:nvSpPr>
        <p:spPr>
          <a:xfrm>
            <a:off x="1664208" y="42976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40 % (retard)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D3B2A"/>
          </a:solidFill>
          <a:ln/>
        </p:spPr>
      </p:sp>
      <p:sp>
        <p:nvSpPr>
          <p:cNvPr id="54" name="Text 51"/>
          <p:cNvSpPr/>
          <p:nvPr/>
        </p:nvSpPr>
        <p:spPr>
          <a:xfrm>
            <a:off x="320040" y="48874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: État des lieux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0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 · Cellule d'Analyses Économiques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D3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37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010144" y="128016"/>
            <a:ext cx="36576" cy="320040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E8720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" cy="1463040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est fait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 mobilisé et avancement par agent enquêteur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48874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 · Cellule d'Analyses Économiques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37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D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010144" y="128016"/>
            <a:ext cx="36576" cy="320040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 mobilisé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 la collecte sur le terrain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697480" cy="1280160"/>
          </a:xfrm>
          <a:prstGeom prst="rect">
            <a:avLst/>
          </a:prstGeom>
          <a:solidFill>
            <a:srgbClr val="1D3B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515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enquêteurs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déployés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005840"/>
            <a:ext cx="2697480" cy="1280160"/>
          </a:xfrm>
          <a:prstGeom prst="rect">
            <a:avLst/>
          </a:prstGeom>
          <a:solidFill>
            <a:srgbClr val="1D3B2A"/>
          </a:solidFill>
          <a:ln/>
        </p:spPr>
      </p:sp>
      <p:sp>
        <p:nvSpPr>
          <p:cNvPr id="10" name="Text 8"/>
          <p:cNvSpPr/>
          <p:nvPr/>
        </p:nvSpPr>
        <p:spPr>
          <a:xfrm>
            <a:off x="3154680" y="10515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246120" y="17830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Superviseurs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terrain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697480" cy="1280160"/>
          </a:xfrm>
          <a:prstGeom prst="rect">
            <a:avLst/>
          </a:prstGeom>
          <a:solidFill>
            <a:srgbClr val="1D3B2A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10515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126480" y="17830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24871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agents — meilleur taux de complétion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4871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à accompagner en priorité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2807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560320" y="280720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Reçues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00400" y="280720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Achevées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794760" y="280720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0" y="2807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040880" y="280720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Reçues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680960" y="280720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Achevées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321040" y="280720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090672"/>
            <a:ext cx="4114800" cy="2743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30906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KOUAME Kouakou Armel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60320" y="309067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200400" y="309067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794760" y="309067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5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3392424"/>
            <a:ext cx="4114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33924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GORAN Akissi Simone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560320" y="339242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200400" y="339242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794760" y="339242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5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3694176"/>
            <a:ext cx="4114800" cy="2743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36941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CAMARA FOUSSENI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560320" y="36941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200400" y="36941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794760" y="36941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5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88,2 %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4320" y="3995928"/>
            <a:ext cx="4114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320040" y="39959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SOUKA Yapi Lazare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560320" y="39959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200400" y="39959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794760" y="39959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5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90,0 %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4297680"/>
            <a:ext cx="4114800" cy="2743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6" name="Text 44"/>
          <p:cNvSpPr/>
          <p:nvPr/>
        </p:nvSpPr>
        <p:spPr>
          <a:xfrm>
            <a:off x="320040" y="4297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PELEY MARIE ANGE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560320" y="42976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200400" y="42976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794760" y="42976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5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92,9 %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54880" y="3090672"/>
            <a:ext cx="4114800" cy="2743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1" name="Text 49"/>
          <p:cNvSpPr/>
          <p:nvPr/>
        </p:nvSpPr>
        <p:spPr>
          <a:xfrm>
            <a:off x="4800600" y="30906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DOHA Boris Bedel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040880" y="309067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680960" y="309067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321040" y="309067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17,4 %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754880" y="3392424"/>
            <a:ext cx="4114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4800600" y="33924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COULIBALY Tchognon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040880" y="339242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680960" y="339242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8321040" y="339242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0,0 %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754880" y="3694176"/>
            <a:ext cx="4114800" cy="2743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61" name="Text 59"/>
          <p:cNvSpPr/>
          <p:nvPr/>
        </p:nvSpPr>
        <p:spPr>
          <a:xfrm>
            <a:off x="4800600" y="36941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NOUFE Thord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040880" y="36941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680960" y="36941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8321040" y="36941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16,7 %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754880" y="3995928"/>
            <a:ext cx="4114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4800600" y="39959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BAGOUE (BAGOUE)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7040880" y="39959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7680960" y="39959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8321040" y="39959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16,7 %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754880" y="4297680"/>
            <a:ext cx="4114800" cy="2743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71" name="Text 69"/>
          <p:cNvSpPr/>
          <p:nvPr/>
        </p:nvSpPr>
        <p:spPr>
          <a:xfrm>
            <a:off x="4800600" y="4297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SANGARE Mamadou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7040880" y="42976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7680960" y="42976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8321040" y="42976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33,3 %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D3B2A"/>
          </a:solidFill>
          <a:ln/>
        </p:spPr>
      </p:sp>
      <p:sp>
        <p:nvSpPr>
          <p:cNvPr id="76" name="Text 74"/>
          <p:cNvSpPr/>
          <p:nvPr/>
        </p:nvSpPr>
        <p:spPr>
          <a:xfrm>
            <a:off x="320040" y="48874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: Ce qui est fait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0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 · Cellule d'Analyses Économiques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D3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37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010144" y="128016"/>
            <a:ext cx="36576" cy="320040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E8720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" cy="1463040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 difficultés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des données et points bloquants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48874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 · Cellule d'Analyses Économiques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37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D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010144" y="128016"/>
            <a:ext cx="36576" cy="320040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des données — vue d'ensemble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détectées parmi les 567 interviews reçues au 12 août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651760" cy="141732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78992"/>
            <a:ext cx="26517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2 227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1827886"/>
            <a:ext cx="24688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détectées au total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005840"/>
            <a:ext cx="2651760" cy="141732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078992"/>
            <a:ext cx="26517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46120" y="1827886"/>
            <a:ext cx="24688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au moins une erreur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651760" cy="141732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078992"/>
            <a:ext cx="26517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26480" y="1827886"/>
            <a:ext cx="24688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des interviews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touchées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2633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des erreurs par section du questionnaire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29992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Identification et consentement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49040" y="3044952"/>
            <a:ext cx="5943600" cy="20116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8" name="Shape 16"/>
          <p:cNvSpPr/>
          <p:nvPr/>
        </p:nvSpPr>
        <p:spPr>
          <a:xfrm>
            <a:off x="3749040" y="3044952"/>
            <a:ext cx="3714750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9738360" y="29992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62.5 %  (1392)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33192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Gestion des tentatives d'appel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749040" y="3364992"/>
            <a:ext cx="5943600" cy="20116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2" name="Shape 20"/>
          <p:cNvSpPr/>
          <p:nvPr/>
        </p:nvSpPr>
        <p:spPr>
          <a:xfrm>
            <a:off x="3749040" y="3364992"/>
            <a:ext cx="1521562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9738360" y="33192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25.6 %  (570)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36393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Profil sociodemographique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749040" y="3685032"/>
            <a:ext cx="5943600" cy="20116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6" name="Shape 24"/>
          <p:cNvSpPr/>
          <p:nvPr/>
        </p:nvSpPr>
        <p:spPr>
          <a:xfrm>
            <a:off x="3749040" y="3685032"/>
            <a:ext cx="463601" cy="201168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27" name="Text 25"/>
          <p:cNvSpPr/>
          <p:nvPr/>
        </p:nvSpPr>
        <p:spPr>
          <a:xfrm>
            <a:off x="9738360" y="36393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7.8 %  (174)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39593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Ménage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749040" y="4005072"/>
            <a:ext cx="5943600" cy="20116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0" name="Shape 28"/>
          <p:cNvSpPr/>
          <p:nvPr/>
        </p:nvSpPr>
        <p:spPr>
          <a:xfrm>
            <a:off x="3749040" y="4005072"/>
            <a:ext cx="77267" cy="201168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31" name="Text 29"/>
          <p:cNvSpPr/>
          <p:nvPr/>
        </p:nvSpPr>
        <p:spPr>
          <a:xfrm>
            <a:off x="9738360" y="39593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1.3 %  (28)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" y="42793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sections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749040" y="4325112"/>
            <a:ext cx="5943600" cy="20116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4" name="Shape 32"/>
          <p:cNvSpPr/>
          <p:nvPr/>
        </p:nvSpPr>
        <p:spPr>
          <a:xfrm>
            <a:off x="3749040" y="4325112"/>
            <a:ext cx="166421" cy="201168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35" name="Text 33"/>
          <p:cNvSpPr/>
          <p:nvPr/>
        </p:nvSpPr>
        <p:spPr>
          <a:xfrm>
            <a:off x="9738360" y="42793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2.8 %  (63)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4626864"/>
            <a:ext cx="8595360" cy="32004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626864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88 % des erreurs concernent les sections B et A — principalement des champs de localisation non renseignés (B1–B5)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D3B2A"/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" y="48874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: Principales difficultés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0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 · Cellule d'Analyses Économiques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37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D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010144" y="128016"/>
            <a:ext cx="36576" cy="320040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bloquants &amp; prochaines étapes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des difficultés et actions à mener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identifiées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14800" cy="347472"/>
          </a:xfrm>
          <a:prstGeom prst="rect">
            <a:avLst/>
          </a:prstGeom>
          <a:solidFill>
            <a:srgbClr val="1D3B2A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à mener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463040"/>
            <a:ext cx="4114800" cy="530352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463040"/>
            <a:ext cx="54864" cy="5303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50876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78 % des interviews ont des erreurs à corriger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4114800" cy="530352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463040"/>
            <a:ext cx="54864" cy="530352"/>
          </a:xfrm>
          <a:prstGeom prst="rect">
            <a:avLst/>
          </a:prstGeom>
          <a:solidFill>
            <a:srgbClr val="1D3B2A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50876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 immédiate des agents sur sections B et 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057400"/>
            <a:ext cx="4114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057400"/>
            <a:ext cx="54864" cy="5303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10312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FOLON (10,4 %) et BAGOUE (16,7 %) très en retard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057400"/>
            <a:ext cx="4114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057400"/>
            <a:ext cx="54864" cy="530352"/>
          </a:xfrm>
          <a:prstGeom prst="rect">
            <a:avLst/>
          </a:prstGeom>
          <a:solidFill>
            <a:srgbClr val="1D3B2A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10312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Renforcement ou remplacement des agents en retard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651760"/>
            <a:ext cx="4114800" cy="530352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651760"/>
            <a:ext cx="54864" cy="5303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269748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complétion en baisse (45,8 % → 42,2 %)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651760"/>
            <a:ext cx="4114800" cy="530352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651760"/>
            <a:ext cx="54864" cy="530352"/>
          </a:xfrm>
          <a:prstGeom prst="rect">
            <a:avLst/>
          </a:prstGeom>
          <a:solidFill>
            <a:srgbClr val="1D3B2A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69748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 de cadrage avec superviseurs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246120"/>
            <a:ext cx="4114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246120"/>
            <a:ext cx="54864" cy="5303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329184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de localisation B1–B5 non renseignés (62 % des erreurs)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246120"/>
            <a:ext cx="4114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3246120"/>
            <a:ext cx="54864" cy="530352"/>
          </a:xfrm>
          <a:prstGeom prst="rect">
            <a:avLst/>
          </a:prstGeom>
          <a:solidFill>
            <a:srgbClr val="1D3B2A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329184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de formation ciblée sur section B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840480"/>
            <a:ext cx="4114800" cy="530352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3840480"/>
            <a:ext cx="54864" cy="5303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388620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agents avec taux &lt; 20 %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3840480"/>
            <a:ext cx="4114800" cy="530352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3840480"/>
            <a:ext cx="54864" cy="530352"/>
          </a:xfrm>
          <a:prstGeom prst="rect">
            <a:avLst/>
          </a:prstGeom>
          <a:solidFill>
            <a:srgbClr val="1D3B2A"/>
          </a:solidFill>
          <a:ln/>
        </p:spPr>
      </p:sp>
      <p:sp>
        <p:nvSpPr>
          <p:cNvPr id="39" name="Text 37"/>
          <p:cNvSpPr/>
          <p:nvPr/>
        </p:nvSpPr>
        <p:spPr>
          <a:xfrm>
            <a:off x="4892040" y="388620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individuel par superviseur dédié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D3B2A"/>
          </a:solidFill>
          <a:ln/>
        </p:spPr>
      </p:sp>
      <p:sp>
        <p:nvSpPr>
          <p:cNvPr id="41" name="Text 39"/>
          <p:cNvSpPr/>
          <p:nvPr/>
        </p:nvSpPr>
        <p:spPr>
          <a:xfrm>
            <a:off x="320040" y="48874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: Principales difficultés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0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 · Cellule d'Analyses Économiques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D3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37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010144" y="128016"/>
            <a:ext cx="36576" cy="320040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CELLULE D'ANALYSES ÉCONOMIQUES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échanges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1600" y="3063240"/>
            <a:ext cx="6400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312724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chiffres clés · 12 août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63040" y="34290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567 interviews reçues  ·  239 achevées  ·  42,2 % de complétion  ·  2 227 erreurs  ·  32 agents  ·  10 régions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63040" y="37490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Régions prioritaires : FOLON (10,4 %) · BAGOUE (16,7 %) · WORODOUGOU (32,1 %)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48874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COSO · Bilan du suivi · Août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2026-08-13T10:15:52Z</dcterms:created>
  <dcterms:modified xsi:type="dcterms:W3CDTF">2026-08-13T10:15:52Z</dcterms:modified>
</cp:coreProperties>
</file>